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528"/>
                </a:solidFill>
                <a:latin typeface="Georgia"/>
              </a:defRPr>
            </a:pPr>
            <a:r>
              <a:t>Arquitetura distribuida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569"/>
                </a:solidFill>
                <a:latin typeface="Verdana"/>
              </a:defRPr>
            </a:pPr>
            <a:r>
              <a:t>Premissas: servicos independentes, rede, fila, persistencia, cache e health checks.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691640" cy="749808"/>
          </a:xfrm>
          <a:prstGeom prst="roundRect">
            <a:avLst/>
          </a:prstGeom>
          <a:solidFill>
            <a:srgbClr val="FFFCF5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2528"/>
                </a:solidFill>
                <a:latin typeface="Verdana"/>
              </a:defRPr>
            </a:pPr>
            <a:r>
              <a:t>Navegador</a:t>
            </a:r>
            <a:br/>
            <a:r>
              <a:t>HTML/CSS/JS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874519"/>
            <a:ext cx="1691640" cy="749808"/>
          </a:xfrm>
          <a:prstGeom prst="roundRect">
            <a:avLst/>
          </a:prstGeom>
          <a:solidFill>
            <a:srgbClr val="FFFCF5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2528"/>
                </a:solidFill>
                <a:latin typeface="Verdana"/>
              </a:defRPr>
            </a:pPr>
            <a:r>
              <a:t>API REST</a:t>
            </a:r>
            <a:br/>
            <a:r>
              <a:t>FastAPI stateless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325880"/>
            <a:ext cx="1691640" cy="749808"/>
          </a:xfrm>
          <a:prstGeom prst="roundRect">
            <a:avLst/>
          </a:prstGeom>
          <a:solidFill>
            <a:srgbClr val="FFFCF5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2528"/>
                </a:solidFill>
                <a:latin typeface="Verdana"/>
              </a:defRPr>
            </a:pPr>
            <a:r>
              <a:t>PostgreSQL</a:t>
            </a:r>
            <a:br/>
            <a:r>
              <a:t>persistencia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487168"/>
            <a:ext cx="1691640" cy="749808"/>
          </a:xfrm>
          <a:prstGeom prst="roundRect">
            <a:avLst/>
          </a:prstGeom>
          <a:solidFill>
            <a:srgbClr val="FFE8DC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05F32"/>
                </a:solidFill>
                <a:latin typeface="Verdana"/>
              </a:defRPr>
            </a:pPr>
            <a:r>
              <a:t>Redis</a:t>
            </a:r>
            <a:br/>
            <a:r>
              <a:t>fila +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74519"/>
            <a:ext cx="1691640" cy="749808"/>
          </a:xfrm>
          <a:prstGeom prst="roundRect">
            <a:avLst/>
          </a:prstGeom>
          <a:solidFill>
            <a:srgbClr val="E0F2EA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7A55"/>
                </a:solidFill>
                <a:latin typeface="Verdana"/>
              </a:defRPr>
            </a:pPr>
            <a:r>
              <a:t>Worker</a:t>
            </a:r>
            <a:br/>
            <a:r>
              <a:t>processamento async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874519"/>
            <a:ext cx="1691640" cy="749808"/>
          </a:xfrm>
          <a:prstGeom prst="roundRect">
            <a:avLst/>
          </a:prstGeom>
          <a:solidFill>
            <a:srgbClr val="FFFCF5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2528"/>
                </a:solidFill>
                <a:latin typeface="Verdana"/>
              </a:defRPr>
            </a:pPr>
            <a:r>
              <a:t>Usuario</a:t>
            </a:r>
            <a:br/>
            <a:r>
              <a:t>resultado na tela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528"/>
                </a:solidFill>
                <a:latin typeface="Verdana"/>
              </a:defRPr>
            </a:pPr>
            <a:r>
              <a:t>API grava a ideia no banco e envia o ID para a fila Redis.</a:t>
            </a:r>
          </a:p>
          <a:p>
            <a:pPr>
              <a:spcAft>
                <a:spcPts val="1000"/>
              </a:spcAft>
              <a:defRPr sz="1700">
                <a:solidFill>
                  <a:srgbClr val="1D2528"/>
                </a:solidFill>
                <a:latin typeface="Verdana"/>
              </a:defRPr>
            </a:pPr>
            <a:r>
              <a:t>Worker consome a fila sem travar a resposta ao usuario.</a:t>
            </a:r>
          </a:p>
          <a:p>
            <a:pPr>
              <a:spcAft>
                <a:spcPts val="1000"/>
              </a:spcAft>
              <a:defRPr sz="1700">
                <a:solidFill>
                  <a:srgbClr val="1D2528"/>
                </a:solidFill>
                <a:latin typeface="Verdana"/>
              </a:defRPr>
            </a:pPr>
            <a:r>
              <a:t>Cache reduz consultas repetidas e health checks mostram a operacao.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569"/>
                </a:solidFill>
                <a:latin typeface="Verdana"/>
              </a:defRPr>
            </a:pPr>
            <a:r>
              <a:t>Mural de Ideias Distribuido | FastAPI + PostgreSQL + Redis + Worker | Deploy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528"/>
                </a:solidFill>
                <a:latin typeface="Georgia"/>
              </a:defRPr>
            </a:pPr>
            <a:r>
              <a:t>Escolha da nuvem: 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569"/>
                </a:solidFill>
                <a:latin typeface="Verdana"/>
              </a:defRPr>
            </a:pPr>
            <a:r>
              <a:t>Deploy publico usando Blueprint com Docker, web services, Postgres e Key Value/Redis.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37560" cy="1097280"/>
          </a:xfrm>
          <a:prstGeom prst="roundRect">
            <a:avLst/>
          </a:prstGeom>
          <a:solidFill>
            <a:srgbClr val="FFFCF5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05F32"/>
                </a:solidFill>
                <a:latin typeface="Verdana"/>
              </a:defRPr>
            </a:pPr>
            <a:r>
              <a:t>1 arquivo</a:t>
            </a:r>
            <a:br/>
            <a:r>
              <a:t>render.yaml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337560" cy="1097280"/>
          </a:xfrm>
          <a:prstGeom prst="roundRect">
            <a:avLst/>
          </a:prstGeom>
          <a:solidFill>
            <a:srgbClr val="FFFCF5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7A55"/>
                </a:solidFill>
                <a:latin typeface="Verdana"/>
              </a:defRPr>
            </a:pPr>
            <a:r>
              <a:t>4 recursos</a:t>
            </a:r>
            <a:br/>
            <a:r>
              <a:t>API + Worker + DB + Redis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37560" cy="1097280"/>
          </a:xfrm>
          <a:prstGeom prst="roundRect">
            <a:avLst/>
          </a:prstGeom>
          <a:solidFill>
            <a:srgbClr val="FFFCF5"/>
          </a:solidFill>
          <a:ln>
            <a:solidFill>
              <a:srgbClr val="DC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2528"/>
                </a:solidFill>
                <a:latin typeface="Verdana"/>
              </a:defRPr>
            </a:pPr>
            <a:r>
              <a:t>URL publica</a:t>
            </a:r>
            <a:br/>
            <a:r>
              <a:t>para demonstracao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528"/>
                </a:solidFill>
                <a:latin typeface="Verdana"/>
              </a:defRPr>
            </a:pPr>
            <a:r>
              <a:t>Render simplifica a publicacao: conecta GitHub e provisiona recursos pelo Blueprint.</a:t>
            </a:r>
          </a:p>
          <a:p>
            <a:pPr>
              <a:spcAft>
                <a:spcPts val="1000"/>
              </a:spcAft>
              <a:defRPr sz="1700">
                <a:solidFill>
                  <a:srgbClr val="1D2528"/>
                </a:solidFill>
                <a:latin typeface="Verdana"/>
              </a:defRPr>
            </a:pPr>
            <a:r>
              <a:t>PostgreSQL e Key Value/Redis ficam gerenciados pela nuvem, sem instalar servidor manualmente.</a:t>
            </a:r>
          </a:p>
          <a:p>
            <a:pPr>
              <a:spcAft>
                <a:spcPts val="1000"/>
              </a:spcAft>
              <a:defRPr sz="1700">
                <a:solidFill>
                  <a:srgbClr val="1D2528"/>
                </a:solidFill>
                <a:latin typeface="Verdana"/>
              </a:defRPr>
            </a:pPr>
            <a:r>
              <a:t>Servicos Docker deixam o mesmo projeto rodar localmente e em producao.</a:t>
            </a:r>
          </a:p>
          <a:p>
            <a:pPr>
              <a:spcAft>
                <a:spcPts val="1000"/>
              </a:spcAft>
              <a:defRPr sz="1700">
                <a:solidFill>
                  <a:srgbClr val="1D2528"/>
                </a:solidFill>
                <a:latin typeface="Verdana"/>
              </a:defRPr>
            </a:pPr>
            <a:r>
              <a:t>Plano gratuito serve para demonstracao; em producao, basta trocar o plano e escalar.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569"/>
                </a:solidFill>
                <a:latin typeface="Verdana"/>
              </a:defRPr>
            </a:pPr>
            <a:r>
              <a:t>Mural de Ideias Distribuido | FastAPI + PostgreSQL + Redis + Worker | Deploy Render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528"/>
                </a:solidFill>
                <a:latin typeface="Georgia"/>
              </a:defRPr>
            </a:pPr>
            <a:r>
              <a:t>Beneficios da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569"/>
                </a:solidFill>
                <a:latin typeface="Verdana"/>
              </a:defRPr>
            </a:pPr>
            <a:r>
              <a:t>Projeto pequeno, mas com os conceitos principais de sistemas distribuidos.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515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D2528"/>
                </a:solidFill>
                <a:latin typeface="Verdana"/>
              </a:defRPr>
            </a:pPr>
            <a:r>
              <a:t>Desacoplamento: a API responde rapido e o worker processa tarefas em segundo plano.</a:t>
            </a:r>
          </a:p>
          <a:p>
            <a:pPr>
              <a:spcAft>
                <a:spcPts val="1000"/>
              </a:spcAft>
              <a:defRPr sz="1800">
                <a:solidFill>
                  <a:srgbClr val="1D2528"/>
                </a:solidFill>
                <a:latin typeface="Verdana"/>
              </a:defRPr>
            </a:pPr>
            <a:r>
              <a:t>Escalabilidade: API e worker podem ganhar mais instancias conforme a demanda.</a:t>
            </a:r>
          </a:p>
          <a:p>
            <a:pPr>
              <a:spcAft>
                <a:spcPts val="1000"/>
              </a:spcAft>
              <a:defRPr sz="1800">
                <a:solidFill>
                  <a:srgbClr val="1D2528"/>
                </a:solidFill>
                <a:latin typeface="Verdana"/>
              </a:defRPr>
            </a:pPr>
            <a:r>
              <a:t>Confiabilidade: dados persistem no PostgreSQL e a fila Redis organiza o processamento.</a:t>
            </a:r>
          </a:p>
          <a:p>
            <a:pPr>
              <a:spcAft>
                <a:spcPts val="1000"/>
              </a:spcAft>
              <a:defRPr sz="1800">
                <a:solidFill>
                  <a:srgbClr val="1D2528"/>
                </a:solidFill>
                <a:latin typeface="Verdana"/>
              </a:defRPr>
            </a:pPr>
            <a:r>
              <a:t>Observabilidade: health checks exibem banco, Redis, tamanho da fila e atividade do worker.</a:t>
            </a:r>
          </a:p>
          <a:p>
            <a:pPr>
              <a:spcAft>
                <a:spcPts val="1000"/>
              </a:spcAft>
              <a:defRPr sz="1800">
                <a:solidFill>
                  <a:srgbClr val="1D2528"/>
                </a:solidFill>
                <a:latin typeface="Verdana"/>
              </a:defRPr>
            </a:pPr>
            <a:r>
              <a:t>Facil explicacao: fluxo simples de ponta a ponta, ideal para demonstrar ao professor.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05F32"/>
                </a:solidFill>
                <a:latin typeface="Verdana"/>
              </a:defRPr>
            </a:pPr>
            <a:r>
              <a:t>Link do sistema: substituir pela URL gerada pela Render apos o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569"/>
                </a:solidFill>
                <a:latin typeface="Verdana"/>
              </a:defRPr>
            </a:pPr>
            <a:r>
              <a:t>Mural de Ideias Distribuido | FastAPI + PostgreSQL + Redis + Worker | Deploy 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